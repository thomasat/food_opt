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Formulation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DC3C7"/>
                </a:solidFill>
              </a:defRPr>
            </a:pPr>
            <a:r>
              <a:t>AI-Powered Food Product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5A5A6"/>
                </a:solidFill>
              </a:defRPr>
            </a:pPr>
            <a:r>
              <a:t>Bayesian Optimization for Ingredient Formulation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Formulation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</a:defRPr>
            </a:pPr>
            <a:r>
              <a:t>Developing new food formulations requires many trial-and-error iterations</a:t>
            </a:r>
          </a:p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</a:defRPr>
            </a:pPr>
            <a:r>
              <a:t>Each lab trial is expensive and time-consuming</a:t>
            </a:r>
          </a:p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</a:defRPr>
            </a:pPr>
            <a:r>
              <a:t>Sensory panel evaluations add further cost per iteration</a:t>
            </a:r>
          </a:p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</a:defRPr>
            </a:pPr>
            <a:r>
              <a:t>Traditional approaches (DOE, one-variable-at-a-time) scale poorly with many ingredients</a:t>
            </a:r>
          </a:p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</a:defRPr>
            </a:pPr>
            <a:r>
              <a:t>Interactions between ingredients are hard to predict manually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10058400" cy="914400"/>
          </a:xfrm>
          <a:prstGeom prst="roundRect">
            <a:avLst/>
          </a:prstGeom>
          <a:solidFill>
            <a:srgbClr val="E8F8F5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Goal: Minimize the number of lab experiments needed to find the optimal recipe.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Our Solution: Bayesian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Formulation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A smart experimental design system that: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</a:defRPr>
            </a:pPr>
            <a:r>
              <a:t>Learns from every experiment you run</a:t>
            </a:r>
          </a:p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</a:defRPr>
            </a:pPr>
            <a:r>
              <a:t>Models the relationship between ingredients and sensory outcomes</a:t>
            </a:r>
          </a:p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</a:defRPr>
            </a:pPr>
            <a:r>
              <a:t>Suggests the most informative next experiment to try</a:t>
            </a:r>
          </a:p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</a:defRPr>
            </a:pPr>
            <a:r>
              <a:t>Converges on the optimal formulation in far fewer iterations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28800"/>
            <a:ext cx="4114800" cy="3200400"/>
          </a:xfrm>
          <a:prstGeom prst="roundRect">
            <a:avLst/>
          </a:prstGeom>
          <a:solidFill>
            <a:srgbClr val="ECF0F1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Typical Convergence</a:t>
            </a:r>
          </a:p>
          <a:p/>
          <a:p>
            <a:pPr>
              <a:defRPr sz="1600">
                <a:solidFill>
                  <a:srgbClr val="4A4A4A"/>
                </a:solidFill>
              </a:defRPr>
            </a:pPr>
            <a:r>
              <a:t>Traditional DOE:</a:t>
            </a:r>
          </a:p>
          <a:p>
            <a:pPr>
              <a:defRPr sz="1600" b="1">
                <a:solidFill>
                  <a:srgbClr val="E74C3C"/>
                </a:solidFill>
              </a:defRPr>
            </a:pPr>
            <a:r>
              <a:t>50-100+ experiments</a:t>
            </a:r>
          </a:p>
          <a:p/>
          <a:p>
            <a:pPr>
              <a:defRPr sz="1600">
                <a:solidFill>
                  <a:srgbClr val="4A4A4A"/>
                </a:solidFill>
              </a:defRPr>
            </a:pPr>
            <a:r>
              <a:t>Bayesian Optimization:</a:t>
            </a:r>
          </a:p>
          <a:p>
            <a:pPr>
              <a:defRPr sz="1600" b="1">
                <a:solidFill>
                  <a:srgbClr val="27AE60"/>
                </a:solidFill>
              </a:defRPr>
            </a:pPr>
            <a:r>
              <a:t>10-15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How It Works: The Ask-Tell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Formulation Assistant</a:t>
            </a:r>
          </a:p>
        </p:txBody>
      </p:sp>
      <p:sp>
        <p:nvSpPr>
          <p:cNvPr id="5" name="Oval 4"/>
          <p:cNvSpPr/>
          <p:nvPr/>
        </p:nvSpPr>
        <p:spPr>
          <a:xfrm>
            <a:off x="1280160" y="201168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Define ingredients,</a:t>
            </a:r>
            <a:br/>
            <a:r>
              <a:t>ranges &amp; objectives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51760" y="2194560"/>
            <a:ext cx="365760" cy="36576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66160" y="201168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System suggests a</a:t>
            </a:r>
            <a:br/>
            <a:r>
              <a:t>batch of recipes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37760" y="2194560"/>
            <a:ext cx="365760" cy="36576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52160" y="201168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Lab Trial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Prepare &amp; evaluate</a:t>
            </a:r>
            <a:br/>
            <a:r>
              <a:t>the recipes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23760" y="2194560"/>
            <a:ext cx="365760" cy="36576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38160" y="201168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Tell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Input sensory panel</a:t>
            </a:r>
            <a:br/>
            <a:r>
              <a:t>ratings into system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509760" y="2194560"/>
            <a:ext cx="365760" cy="36576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4160" y="2011680"/>
            <a:ext cx="731520" cy="7315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Repeat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System learns &amp;</a:t>
            </a:r>
            <a:br/>
            <a:r>
              <a:t>suggests improvements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754880"/>
            <a:ext cx="6400800" cy="731520"/>
          </a:xfrm>
          <a:prstGeom prst="roundRect">
            <a:avLst/>
          </a:prstGeom>
          <a:solidFill>
            <a:srgbClr val="FDF2E9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4A4A4A"/>
                </a:solidFill>
              </a:defRPr>
            </a:pPr>
            <a:r>
              <a:t>Each iteration makes the model smarter. The system balances exploring new regions vs. refining promising 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Setup: Ingredients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Formulation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Upload your ingredient list via CSV with allowed ranges: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Protein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Flour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10.3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Sugar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Butter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2.10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Eggs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1.50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12.6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3891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Min/Max: allowed quantity range per ingredient</a:t>
            </a:r>
          </a:p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Additional columns (Cost, Protein, etc.) enable property-based constraints</a:t>
            </a:r>
          </a:p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Process parameters (baking temp, mixing time) can also be optimized jointly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Setup: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Formulation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Define what "good" means for your product: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Chewiness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Maximize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0 - 10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Sweetness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Target = 5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0 - 10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Graininess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Minimize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0 - 10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114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Maximize, Minimize, or hit a specific Target for each sensory attribute</a:t>
            </a:r>
          </a:p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Weights reflect relative importance of each attribute</a:t>
            </a:r>
          </a:p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Ranges normalize all scores to a common 0-1 scale for fair comparison</a:t>
            </a:r>
          </a:p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Combined into a single Utility Score that the optimizer maximizes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Setup: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Formulation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</a:defRPr>
            </a:pPr>
            <a:r>
              <a:t>Property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4A4A"/>
                </a:solidFill>
              </a:defRPr>
            </a:pPr>
            <a:r>
              <a:t>Based on ingredient properties from your CSV: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Total Cost &lt;= 5.00 per unit</a:t>
            </a:r>
          </a:p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Total Protein &gt;= 8g per serving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</a:defRPr>
            </a:pPr>
            <a:r>
              <a:t>Ingredient Quantity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4A4A"/>
                </a:solidFill>
              </a:defRPr>
            </a:pPr>
            <a:r>
              <a:t>Direct limits on ingredient amounts: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Sugar + Honey &lt;= 50g</a:t>
            </a:r>
          </a:p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Total recipe mass: 90g - 110g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10058400" cy="914400"/>
          </a:xfrm>
          <a:prstGeom prst="roundRect">
            <a:avLst/>
          </a:prstGeom>
          <a:solidFill>
            <a:srgbClr val="E8F8F5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All constraints are enforced during optimization - every suggested recipe is guaranteed to be feasible.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The Optimization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Formulation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ECF0F1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Phase 1: Exploration (First 5 Experiments)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Sobol quasi-random sequences for space-filling design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Ensures broad coverage of the ingredient space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All constraints respected from the start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Optional: pre-screening model to prioritize promising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ECF0F1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Phase 2: Optimization (Experiment 6+)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031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Gaussian Process (GP) models all data collected so far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Noisy Expected Improvement acquisition function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Balances exploration vs. exploitation automatically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Batch suggestions for parallel lab trials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Two Operating Modes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846320"/>
          <a:ext cx="105156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Standard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Smooth synergistic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Faster convergence, assumes gradual interactions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Robust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Sharp thresholds / phase transitions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Input Warping for non-linear effects, more resilient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Utility Score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Formulation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Each experiment receives a single score combining all objectives: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1. Normalize each metric to [0, 1] using the defined range</a:t>
            </a:r>
          </a:p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2. Apply goal transformation:  Maximize = score,  Minimize = 1 - score,  Target = 1 - (score - target)^2</a:t>
            </a:r>
          </a:p>
          <a:p>
            <a:pPr>
              <a:spcAft>
                <a:spcPts val="800"/>
              </a:spcAft>
              <a:defRPr sz="1800">
                <a:solidFill>
                  <a:srgbClr val="4A4A4A"/>
                </a:solidFill>
              </a:defRPr>
            </a:pPr>
            <a:r>
              <a:t>3. Weighted sum:  Total Utility = SUM( weight_i  x  utility_i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10058400" cy="2103120"/>
          </a:xfrm>
          <a:prstGeom prst="roundRect">
            <a:avLst/>
          </a:prstGeom>
          <a:solidFill>
            <a:srgbClr val="FDF2E9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</a:defRPr>
            </a:pPr>
            <a: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9768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Chewiness = 8  (goal=max, weight=0.6, range 0-10)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    normalized = 0.8   |   utility = 0.8   |   weighted = 0.48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Sweetness = 6  (goal=target 5, weight=0.4, range 0-10)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    normalized = 0.6, target = 0.5   |   utility = 1 - 0.01 = 0.99   |   weighted = 0.396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Total Utility = 0.48 + 0.396 = 0.876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Managing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Formulation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3200400"/>
          </a:xfrm>
          <a:prstGeom prst="roundRect">
            <a:avLst/>
          </a:prstGeom>
          <a:solidFill>
            <a:srgbClr val="ECF0F1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</a:defRPr>
            </a:pPr>
            <a:r>
              <a:t>Edit Past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Correct sensory ratings if a panel needs re-evaluation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System warns that later experiments may be invalidated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Utility scores are recalculated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474720" cy="3200400"/>
          </a:xfrm>
          <a:prstGeom prst="roundRect">
            <a:avLst/>
          </a:prstGeom>
          <a:solidFill>
            <a:srgbClr val="ECF0F1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</a:defRPr>
            </a:pPr>
            <a:r>
              <a:t>Rewind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Roll back to any past experiment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Discard subsequent iterations that are no longer valid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Original state is archived automatically (nothing lost)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463040"/>
            <a:ext cx="3474720" cy="3200400"/>
          </a:xfrm>
          <a:prstGeom prst="roundRect">
            <a:avLst/>
          </a:prstGeom>
          <a:solidFill>
            <a:srgbClr val="ECF0F1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</a:defRPr>
            </a:pPr>
            <a:r>
              <a:t>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945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Remove individual outlier experiments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History re-indexes automatically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Useful for discarding failed trials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Workflow: Correcting a Past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Formulation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Scenario: At iteration 6, you realize iteration 4's sensory panel was flawed.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56032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4A4A"/>
                </a:solidFill>
              </a:defRPr>
            </a:pPr>
            <a:r>
              <a:t>Edit experiment #4 with</a:t>
            </a:r>
            <a:br/>
            <a:r>
              <a:t>corrected sensory ratings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17520" y="2697480"/>
            <a:ext cx="457200" cy="36576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0" y="256032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474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4A4A"/>
                </a:solidFill>
              </a:defRPr>
            </a:pPr>
            <a:r>
              <a:t>Rewind to experiment #4</a:t>
            </a:r>
            <a:br/>
            <a:r>
              <a:t>(discards #5 and #6)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2160" y="2697480"/>
            <a:ext cx="457200" cy="36576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32320" y="256032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74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4A4A"/>
                </a:solidFill>
              </a:defRPr>
            </a:pPr>
            <a:r>
              <a:t>System re-optimizes</a:t>
            </a:r>
            <a:br/>
            <a:r>
              <a:t>from the corrected 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86800" y="2697480"/>
            <a:ext cx="457200" cy="36576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66960" y="256032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474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4A4A"/>
                </a:solidFill>
              </a:defRPr>
            </a:pPr>
            <a:r>
              <a:t>New suggestion for #5</a:t>
            </a:r>
            <a:br/>
            <a:r>
              <a:t>reflects updated ratings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10058400" cy="914400"/>
          </a:xfrm>
          <a:prstGeom prst="roundRect">
            <a:avLst/>
          </a:prstGeom>
          <a:solidFill>
            <a:srgbClr val="E8F8F5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The archive preserves all prior work for reference - nothing is permanently lost.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Formulation Assistant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Optimization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BoTorch + GPyTorch (Meta 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State-of-the-art Bayesian optimization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Surrogate Model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Gaussian Process (SingleTaskGP)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Probabilistic model of ingredient-outcome relationships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Acquisition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qLogNoisyExpectedImprovement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Smart selection of next experiments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User Interface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Interactive web application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Python + PyTorch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4A4A"/>
                          </a:solidFill>
                        </a:defRPr>
                      </a:pPr>
                      <a:r>
                        <a:t>Robust scientific computing foundation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Key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Formulation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ECF0F1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Fewer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4A4A"/>
                </a:solidFill>
              </a:defRPr>
            </a:pPr>
            <a:r>
              <a:t>Reach optimal formulation in 10-15 iterations</a:t>
            </a:r>
            <a:br/>
            <a:r>
              <a:t>vs. 50-100+ with traditional 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474720" cy="2011680"/>
          </a:xfrm>
          <a:prstGeom prst="roundRect">
            <a:avLst/>
          </a:prstGeom>
          <a:solidFill>
            <a:srgbClr val="ECF0F1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Multi-Objective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4A4A"/>
                </a:solidFill>
              </a:defRPr>
            </a:pPr>
            <a:r>
              <a:t>Optimize multiple sensory attributes</a:t>
            </a:r>
            <a:br/>
            <a:r>
              <a:t>simultaneously with flexible goals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463040"/>
            <a:ext cx="3474720" cy="2011680"/>
          </a:xfrm>
          <a:prstGeom prst="roundRect">
            <a:avLst/>
          </a:prstGeom>
          <a:solidFill>
            <a:srgbClr val="ECF0F1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Constraint-Aware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194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4A4A"/>
                </a:solidFill>
              </a:defRPr>
            </a:pPr>
            <a:r>
              <a:t>Every suggestion respects cost, nutrition,</a:t>
            </a:r>
            <a:br/>
            <a:r>
              <a:t>and mass constraints automatically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011680"/>
          </a:xfrm>
          <a:prstGeom prst="roundRect">
            <a:avLst/>
          </a:prstGeom>
          <a:solidFill>
            <a:srgbClr val="ECF0F1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Batch Suggestions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4A4A"/>
                </a:solidFill>
              </a:defRPr>
            </a:pPr>
            <a:r>
              <a:t>Run multiple experiments per iteration</a:t>
            </a:r>
            <a:br/>
            <a:r>
              <a:t>for efficient parallel lab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023360"/>
            <a:ext cx="3474720" cy="2011680"/>
          </a:xfrm>
          <a:prstGeom prst="roundRect">
            <a:avLst/>
          </a:prstGeom>
          <a:solidFill>
            <a:srgbClr val="ECF0F1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Full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754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4A4A"/>
                </a:solidFill>
              </a:defRPr>
            </a:pPr>
            <a:r>
              <a:t>Edit, delete, and rewind capabilities</a:t>
            </a:r>
            <a:br/>
            <a:r>
              <a:t>with automatic archiving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023360"/>
            <a:ext cx="3474720" cy="2011680"/>
          </a:xfrm>
          <a:prstGeom prst="roundRect">
            <a:avLst/>
          </a:prstGeom>
          <a:solidFill>
            <a:srgbClr val="ECF0F1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No ML Expertise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754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4A4A"/>
                </a:solidFill>
              </a:defRPr>
            </a:pPr>
            <a:r>
              <a:t>Intuitive web interface - no coding or</a:t>
            </a:r>
            <a:br/>
            <a:r>
              <a:t>machine learning knowledge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Formulation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4A4A"/>
                </a:solidFill>
              </a:defRPr>
            </a:pPr>
            <a:r>
              <a:t>1.  Define your ingredient list and allowed ranges</a:t>
            </a:r>
          </a:p>
          <a:p>
            <a:pPr>
              <a:spcAft>
                <a:spcPts val="800"/>
              </a:spcAft>
              <a:defRPr sz="2200">
                <a:solidFill>
                  <a:srgbClr val="4A4A4A"/>
                </a:solidFill>
              </a:defRPr>
            </a:pPr>
            <a:r>
              <a:t>2.  Set sensory objectives (what to maximize, minimize, or target)</a:t>
            </a:r>
          </a:p>
          <a:p>
            <a:pPr>
              <a:spcAft>
                <a:spcPts val="800"/>
              </a:spcAft>
              <a:defRPr sz="2200">
                <a:solidFill>
                  <a:srgbClr val="4A4A4A"/>
                </a:solidFill>
              </a:defRPr>
            </a:pPr>
            <a:r>
              <a:t>3.  Configure constraints (cost, nutrition, total mass)</a:t>
            </a:r>
          </a:p>
          <a:p>
            <a:pPr>
              <a:spcAft>
                <a:spcPts val="800"/>
              </a:spcAft>
              <a:defRPr sz="2200">
                <a:solidFill>
                  <a:srgbClr val="4A4A4A"/>
                </a:solidFill>
              </a:defRPr>
            </a:pPr>
            <a:r>
              <a:t>4.  Run the first batch of 3-5 experiments</a:t>
            </a:r>
          </a:p>
          <a:p>
            <a:pPr>
              <a:spcAft>
                <a:spcPts val="800"/>
              </a:spcAft>
              <a:defRPr sz="2200">
                <a:solidFill>
                  <a:srgbClr val="4A4A4A"/>
                </a:solidFill>
              </a:defRPr>
            </a:pPr>
            <a:r>
              <a:t>5.  Evaluate with your sensory panel and input ratings</a:t>
            </a:r>
          </a:p>
          <a:p>
            <a:pPr>
              <a:spcAft>
                <a:spcPts val="800"/>
              </a:spcAft>
              <a:defRPr sz="2200">
                <a:solidFill>
                  <a:srgbClr val="4A4A4A"/>
                </a:solidFill>
              </a:defRPr>
            </a:pPr>
            <a:r>
              <a:t>6.  Iterate - the system improves with every data point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BDC3C7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5A5A6"/>
                </a:solidFill>
              </a:defRPr>
            </a:pPr>
            <a:r>
              <a:t>Formulation Assistant - Smarter experiments, faster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